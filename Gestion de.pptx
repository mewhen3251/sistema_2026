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entury Gothic" panose="020B0502020202020204" pitchFamily="34" charset="0"/>
      <p:regular r:id="rId9"/>
      <p:bold r:id="rId10"/>
      <p:italic r:id="rId11"/>
      <p:boldItalic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Open Sans Bold" panose="020B0604020202020204" charset="0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72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26518" y="914402"/>
            <a:ext cx="13014333" cy="4800600"/>
          </a:xfrm>
        </p:spPr>
        <p:txBody>
          <a:bodyPr anchor="b">
            <a:normAutofit/>
          </a:bodyPr>
          <a:lstStyle>
            <a:lvl1pPr algn="ctr">
              <a:defRPr sz="72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26518" y="5829300"/>
            <a:ext cx="13014333" cy="2857500"/>
          </a:xfrm>
        </p:spPr>
        <p:txBody>
          <a:bodyPr anchor="t">
            <a:normAutofit/>
          </a:bodyPr>
          <a:lstStyle>
            <a:lvl1pPr marL="0" indent="0" algn="ctr">
              <a:buNone/>
              <a:defRPr sz="31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429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11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800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5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6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6520" y="4962872"/>
            <a:ext cx="13030200" cy="2203200"/>
          </a:xfrm>
        </p:spPr>
        <p:txBody>
          <a:bodyPr anchor="b"/>
          <a:lstStyle>
            <a:lvl1pPr algn="r">
              <a:defRPr sz="6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26517" y="7166072"/>
            <a:ext cx="13030202" cy="1290600"/>
          </a:xfrm>
        </p:spPr>
        <p:txBody>
          <a:bodyPr anchor="t">
            <a:normAutofit/>
          </a:bodyPr>
          <a:lstStyle>
            <a:lvl1pPr marL="0" indent="0" algn="r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11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8" y="4000499"/>
            <a:ext cx="7315200" cy="4686302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5918" y="4000500"/>
            <a:ext cx="7315200" cy="4686300"/>
          </a:xfrm>
        </p:spPr>
        <p:txBody>
          <a:bodyPr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949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43921" y="3987800"/>
            <a:ext cx="6883397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8" y="4864894"/>
            <a:ext cx="7315200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64700" y="4000500"/>
            <a:ext cx="6906420" cy="864393"/>
          </a:xfrm>
        </p:spPr>
        <p:txBody>
          <a:bodyPr anchor="b">
            <a:noAutofit/>
          </a:bodyPr>
          <a:lstStyle>
            <a:lvl1pPr marL="0" indent="0">
              <a:buNone/>
              <a:defRPr sz="4200" b="0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5919" y="4864894"/>
            <a:ext cx="7315202" cy="3821906"/>
          </a:xfrm>
        </p:spPr>
        <p:txBody>
          <a:bodyPr anchor="t">
            <a:normAutofit/>
          </a:bodyPr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961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050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89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5323682" cy="2057400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5719" y="914402"/>
            <a:ext cx="8915402" cy="7772400"/>
          </a:xfrm>
        </p:spPr>
        <p:txBody>
          <a:bodyPr anchor="ctr">
            <a:normAutofit/>
          </a:bodyPr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5323682" cy="27432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25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400300"/>
            <a:ext cx="8001002" cy="2057400"/>
          </a:xfrm>
        </p:spPr>
        <p:txBody>
          <a:bodyPr anchor="b">
            <a:normAutofit/>
          </a:bodyPr>
          <a:lstStyle>
            <a:lvl1pPr algn="l">
              <a:defRPr sz="4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150600" y="-27432"/>
            <a:ext cx="4914899" cy="1035558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4457700"/>
            <a:ext cx="8001002" cy="2743200"/>
          </a:xfrm>
        </p:spPr>
        <p:txBody>
          <a:bodyPr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9598818" y="8824913"/>
            <a:ext cx="13716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12118" y="8824913"/>
            <a:ext cx="7658100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6113919" y="8824913"/>
            <a:ext cx="483851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41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20" y="7099298"/>
            <a:ext cx="14859000" cy="85010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69418" y="1398168"/>
            <a:ext cx="12338916" cy="474746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400"/>
            </a:lvl1pPr>
            <a:lvl2pPr marL="685800" indent="0">
              <a:buNone/>
              <a:defRPr sz="2400"/>
            </a:lvl2pPr>
            <a:lvl3pPr marL="1371600" indent="0">
              <a:buNone/>
              <a:defRPr sz="24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20" y="7949405"/>
            <a:ext cx="14859000" cy="740568"/>
          </a:xfrm>
        </p:spPr>
        <p:txBody>
          <a:bodyPr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7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9" y="914402"/>
            <a:ext cx="14858999" cy="4686299"/>
          </a:xfrm>
        </p:spPr>
        <p:txBody>
          <a:bodyPr anchor="ctr">
            <a:normAutofit/>
          </a:bodyPr>
          <a:lstStyle>
            <a:lvl1pPr algn="l">
              <a:defRPr sz="48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ctr">
            <a:normAutofit/>
          </a:bodyPr>
          <a:lstStyle>
            <a:lvl1pPr marL="0" indent="0" algn="l">
              <a:buNone/>
              <a:defRPr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2358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20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12218" y="5029200"/>
            <a:ext cx="13258803" cy="5715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685800" indent="0">
              <a:buFontTx/>
              <a:buNone/>
              <a:defRPr/>
            </a:lvl2pPr>
            <a:lvl3pPr marL="1371600" indent="0">
              <a:buFontTx/>
              <a:buNone/>
              <a:defRPr/>
            </a:lvl3pPr>
            <a:lvl4pPr marL="2057400" indent="0">
              <a:buFontTx/>
              <a:buNone/>
              <a:defRPr/>
            </a:lvl4pPr>
            <a:lvl5pPr marL="27432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38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8" y="4962872"/>
            <a:ext cx="14859000" cy="2203200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6" y="7166072"/>
            <a:ext cx="14859002" cy="12906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396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254918" y="1180236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2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56718" y="4114800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20" y="914402"/>
            <a:ext cx="13944597" cy="4114799"/>
          </a:xfrm>
        </p:spPr>
        <p:txBody>
          <a:bodyPr anchor="ctr">
            <a:normAutofit/>
          </a:bodyPr>
          <a:lstStyle>
            <a:lvl1pPr algn="l">
              <a:defRPr sz="4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829300"/>
            <a:ext cx="14859000" cy="13335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6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7162800"/>
            <a:ext cx="14859000" cy="15240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4268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9" y="914402"/>
            <a:ext cx="14858999" cy="41147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12118" y="5257800"/>
            <a:ext cx="14859000" cy="12573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42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515100"/>
            <a:ext cx="14859000" cy="2171700"/>
          </a:xfrm>
        </p:spPr>
        <p:txBody>
          <a:bodyPr anchor="t">
            <a:normAutofit/>
          </a:bodyPr>
          <a:lstStyle>
            <a:lvl1pPr marL="0" indent="0" algn="l">
              <a:buNone/>
              <a:defRPr sz="27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91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14858997" cy="28575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28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5347" y="914399"/>
            <a:ext cx="3315771" cy="7772402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8" y="914400"/>
            <a:ext cx="11315700" cy="77724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5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14858997" cy="285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20" y="4000499"/>
            <a:ext cx="14858997" cy="46863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256418" y="8824913"/>
            <a:ext cx="24003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8" y="8824913"/>
            <a:ext cx="113157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771019" y="8824913"/>
            <a:ext cx="82675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699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spcBef>
          <a:spcPct val="0"/>
        </a:spcBef>
        <a:buNone/>
        <a:defRPr sz="4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286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3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11144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7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800225" indent="-42862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23145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3000375" indent="-257175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2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37719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44577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51435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5829300" indent="-342900" algn="l" defTabSz="685800" rtl="0" eaLnBrk="1" latinLnBrk="0" hangingPunct="1">
        <a:spcBef>
          <a:spcPct val="20000"/>
        </a:spcBef>
        <a:spcAft>
          <a:spcPts val="9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6858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  <p:txBody>
          <a:bodyPr/>
          <a:lstStyle/>
          <a:p>
            <a:endParaRPr lang="es-AR"/>
          </a:p>
        </p:txBody>
      </p:sp>
      <p:sp>
        <p:nvSpPr>
          <p:cNvPr id="3" name="TextBox 3"/>
          <p:cNvSpPr txBox="1"/>
          <p:nvPr/>
        </p:nvSpPr>
        <p:spPr>
          <a:xfrm>
            <a:off x="4604392" y="431321"/>
            <a:ext cx="9079216" cy="1070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r>
              <a:rPr lang="en-US" sz="6268" b="1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Gestion de </a:t>
            </a: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usuarios</a:t>
            </a:r>
            <a:r>
              <a:rPr lang="en-US" sz="6268" b="1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1D9F0233-86E9-B420-BE3E-B1E1B659EA5C}"/>
              </a:ext>
            </a:extLst>
          </p:cNvPr>
          <p:cNvGrpSpPr/>
          <p:nvPr/>
        </p:nvGrpSpPr>
        <p:grpSpPr>
          <a:xfrm>
            <a:off x="0" y="3032583"/>
            <a:ext cx="9101444" cy="4221834"/>
            <a:chOff x="0" y="1744410"/>
            <a:chExt cx="9101444" cy="4221834"/>
          </a:xfrm>
        </p:grpSpPr>
        <p:sp>
          <p:nvSpPr>
            <p:cNvPr id="4" name="TextBox 4"/>
            <p:cNvSpPr txBox="1"/>
            <p:nvPr/>
          </p:nvSpPr>
          <p:spPr>
            <a:xfrm>
              <a:off x="0" y="1744410"/>
              <a:ext cx="9101443" cy="72814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5989"/>
                </a:lnSpc>
                <a:spcBef>
                  <a:spcPct val="0"/>
                </a:spcBef>
              </a:pPr>
              <a:r>
                <a:rPr lang="en-US" sz="4278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Materia: </a:t>
              </a:r>
              <a:r>
                <a:rPr lang="en-US" sz="4278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modelos</a:t>
              </a:r>
              <a:r>
                <a:rPr lang="en-US" sz="4278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y </a:t>
              </a:r>
              <a:r>
                <a:rPr lang="en-US" sz="4278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sistemas</a:t>
              </a:r>
              <a:r>
                <a:rPr lang="en-US" sz="4278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738373"/>
              <a:ext cx="9101444" cy="32278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50"/>
                </a:lnSpc>
              </a:pPr>
              <a:r>
                <a:rPr lang="en-US" sz="4535" b="1" dirty="0" err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Integrantes</a:t>
              </a:r>
              <a:r>
                <a:rPr lang="en-US" sz="4535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: Nicolás Farias</a:t>
              </a:r>
            </a:p>
            <a:p>
              <a:pPr algn="ctr">
                <a:lnSpc>
                  <a:spcPts val="6350"/>
                </a:lnSpc>
              </a:pPr>
              <a:r>
                <a:rPr lang="en-US" sz="4535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Francisco Ureña Bustamante </a:t>
              </a:r>
            </a:p>
            <a:p>
              <a:pPr algn="ctr">
                <a:lnSpc>
                  <a:spcPts val="6350"/>
                </a:lnSpc>
              </a:pPr>
              <a:r>
                <a:rPr lang="en-US" sz="4535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Rocio Papa Alvarez </a:t>
              </a:r>
            </a:p>
            <a:p>
              <a:pPr algn="ctr">
                <a:lnSpc>
                  <a:spcPts val="6350"/>
                </a:lnSpc>
                <a:spcBef>
                  <a:spcPct val="0"/>
                </a:spcBef>
              </a:pPr>
              <a:r>
                <a:rPr lang="en-US" sz="4535" b="1" dirty="0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Teo Sala Pustelnik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545561" y="4256360"/>
            <a:ext cx="8742436" cy="770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5444" lvl="1" indent="-685800" algn="just">
              <a:lnSpc>
                <a:spcPts val="63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Contraseña</a:t>
            </a: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encriptada</a:t>
            </a:r>
            <a:endParaRPr lang="en-US" sz="4535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5560" y="3390495"/>
            <a:ext cx="8742435" cy="770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5444" lvl="1" indent="-685800" algn="just">
              <a:lnSpc>
                <a:spcPts val="63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Login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45561" y="5123135"/>
            <a:ext cx="8742439" cy="770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5444" lvl="1" indent="-685800" algn="just">
              <a:lnSpc>
                <a:spcPts val="63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Preguntas</a:t>
            </a: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seguridad</a:t>
            </a:r>
            <a:endParaRPr lang="en-US" sz="4535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45560" y="6200318"/>
            <a:ext cx="8742437" cy="770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5444" lvl="1" indent="-685800" algn="just">
              <a:lnSpc>
                <a:spcPts val="63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Recuperar</a:t>
            </a: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contraseña</a:t>
            </a:r>
            <a:endParaRPr lang="en-US" sz="4535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545561" y="7273964"/>
            <a:ext cx="8742438" cy="7706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75444" lvl="1" indent="-685800" algn="just">
              <a:lnSpc>
                <a:spcPts val="635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Políticas</a:t>
            </a: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seguridad</a:t>
            </a:r>
            <a:endParaRPr lang="en-US" sz="4535" b="1" dirty="0">
              <a:solidFill>
                <a:srgbClr val="FFFFFF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45561" y="8186411"/>
            <a:ext cx="8742439" cy="735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36095" lvl="1" indent="-571500" algn="just">
              <a:lnSpc>
                <a:spcPts val="602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30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Permisos</a:t>
            </a:r>
            <a:r>
              <a:rPr lang="en-US" sz="430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430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dar</a:t>
            </a:r>
            <a:r>
              <a:rPr lang="en-US" sz="430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4303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alta</a:t>
            </a:r>
            <a:r>
              <a:rPr lang="en-US" sz="4303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o baja)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16106" y="1514980"/>
            <a:ext cx="5123485" cy="15863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0"/>
              </a:lnSpc>
            </a:pP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Temas a </a:t>
            </a: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hablar</a:t>
            </a: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</a:p>
          <a:p>
            <a:pPr algn="ctr">
              <a:lnSpc>
                <a:spcPts val="6350"/>
              </a:lnSpc>
              <a:spcBef>
                <a:spcPct val="0"/>
              </a:spcBef>
            </a:pP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(</a:t>
            </a:r>
            <a:r>
              <a:rPr lang="en-US" sz="453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exposición</a:t>
            </a:r>
            <a:r>
              <a:rPr lang="en-US" sz="453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):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7044ADC-1FA5-BC8C-12FA-135F18A4BD98}"/>
              </a:ext>
            </a:extLst>
          </p:cNvPr>
          <p:cNvSpPr txBox="1"/>
          <p:nvPr/>
        </p:nvSpPr>
        <p:spPr>
          <a:xfrm>
            <a:off x="4604392" y="431321"/>
            <a:ext cx="9079216" cy="1070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r>
              <a:rPr lang="en-US" sz="6268" b="1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Login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64879F-248D-97E5-1256-EF945FE20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" t="800" r="2730" b="800"/>
          <a:stretch>
            <a:fillRect/>
          </a:stretch>
        </p:blipFill>
        <p:spPr>
          <a:xfrm>
            <a:off x="228600" y="2057400"/>
            <a:ext cx="10154264" cy="61722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C0DF0F6-A345-9C57-B4AA-97E8D4DCC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6" r="2426" b="3539"/>
          <a:stretch>
            <a:fillRect/>
          </a:stretch>
        </p:blipFill>
        <p:spPr>
          <a:xfrm>
            <a:off x="10382863" y="3124200"/>
            <a:ext cx="7752737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40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7931-5794-ADA9-77E7-FE840872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CA0D032-9F7E-B45B-5D1F-E689F627869E}"/>
              </a:ext>
            </a:extLst>
          </p:cNvPr>
          <p:cNvSpPr txBox="1"/>
          <p:nvPr/>
        </p:nvSpPr>
        <p:spPr>
          <a:xfrm>
            <a:off x="3788096" y="431321"/>
            <a:ext cx="10711808" cy="1053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Contraseña</a:t>
            </a:r>
            <a:r>
              <a:rPr lang="en-US" sz="6268" b="1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encriptada</a:t>
            </a:r>
            <a:endParaRPr lang="en-US" sz="6268" b="1" dirty="0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9B9B9B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2700000"/>
              </a:gra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8902D9D-E9C6-4BC4-7F60-23843BE7720C}"/>
              </a:ext>
            </a:extLst>
          </p:cNvPr>
          <p:cNvSpPr txBox="1"/>
          <p:nvPr/>
        </p:nvSpPr>
        <p:spPr>
          <a:xfrm>
            <a:off x="0" y="1790700"/>
            <a:ext cx="11811000" cy="79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4540" dirty="0" err="1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using</a:t>
            </a:r>
            <a:r>
              <a:rPr lang="es-AR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4540" dirty="0" err="1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System.Security.Cryptography</a:t>
            </a:r>
            <a:r>
              <a:rPr lang="es-AR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;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211802-DC44-9DB8-B2B6-EBAC40BDD097}"/>
              </a:ext>
            </a:extLst>
          </p:cNvPr>
          <p:cNvSpPr txBox="1"/>
          <p:nvPr/>
        </p:nvSpPr>
        <p:spPr>
          <a:xfrm>
            <a:off x="0" y="2925287"/>
            <a:ext cx="13487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public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static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string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encryptToSHA256(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string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rawData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)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       {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		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using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(SHA256 sha256Hash = SHA256.Create())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           {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			byte[] hash =sha256Hash.ComputeHash(Encoding.UTF8.GetBytes(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rawData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));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               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StringBuilder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sb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= new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StringBuilder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();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               	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			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foreach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(byte b in hash)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				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sb.Append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b.ToString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("x2"));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              	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return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2000" dirty="0" err="1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sb.ToString</a:t>
            </a:r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(); 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		}</a:t>
            </a:r>
          </a:p>
          <a:p>
            <a:r>
              <a:rPr lang="es-AR" sz="2000" dirty="0">
                <a:latin typeface="Consolas" panose="020B0609020204030204" pitchFamily="49" charset="0"/>
                <a:ea typeface="Open Sans Bold" panose="020B0604020202020204" charset="0"/>
                <a:cs typeface="Open Sans Bold" panose="020B0604020202020204" charset="0"/>
              </a:rPr>
              <a:t>        }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5198AFA-F40B-1B40-B8B4-2E1AAAEE8B76}"/>
              </a:ext>
            </a:extLst>
          </p:cNvPr>
          <p:cNvSpPr txBox="1"/>
          <p:nvPr/>
        </p:nvSpPr>
        <p:spPr>
          <a:xfrm>
            <a:off x="2667000" y="7277100"/>
            <a:ext cx="12954000" cy="319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1425"/>
              </a:lnSpc>
              <a:buNone/>
            </a:pPr>
            <a:r>
              <a:rPr lang="es-AR" sz="2800" b="0" dirty="0">
                <a:solidFill>
                  <a:srgbClr val="D2A8F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encryptToSHA256</a:t>
            </a:r>
            <a:r>
              <a:rPr lang="es-AR" sz="2800" b="0" dirty="0">
                <a:solidFill>
                  <a:srgbClr val="BBBEB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</a:t>
            </a:r>
            <a:r>
              <a:rPr lang="es-AR" sz="2800" b="0" dirty="0" err="1">
                <a:solidFill>
                  <a:srgbClr val="C9D1D9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tbox_Contrasena</a:t>
            </a:r>
            <a:r>
              <a:rPr lang="es-AR" sz="2800" b="0" dirty="0" err="1">
                <a:solidFill>
                  <a:srgbClr val="BBBEB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.</a:t>
            </a:r>
            <a:r>
              <a:rPr lang="es-AR" sz="2800" b="0" dirty="0" err="1">
                <a:solidFill>
                  <a:srgbClr val="C9D1D9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Text</a:t>
            </a:r>
            <a:r>
              <a:rPr lang="es-AR" sz="2800" b="0" dirty="0" err="1">
                <a:solidFill>
                  <a:srgbClr val="BBBEB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.</a:t>
            </a:r>
            <a:r>
              <a:rPr lang="es-AR" sz="2800" b="0" dirty="0" err="1">
                <a:solidFill>
                  <a:srgbClr val="D2A8F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Trim</a:t>
            </a:r>
            <a:r>
              <a:rPr lang="es-AR" sz="2800" b="0" dirty="0">
                <a:solidFill>
                  <a:srgbClr val="BBBEB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() </a:t>
            </a:r>
            <a:r>
              <a:rPr lang="es-AR" sz="2800" b="0" dirty="0">
                <a:solidFill>
                  <a:srgbClr val="D4D4D4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+</a:t>
            </a:r>
            <a:r>
              <a:rPr lang="es-AR" sz="2800" b="0" dirty="0">
                <a:solidFill>
                  <a:srgbClr val="BBBEB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 </a:t>
            </a:r>
            <a:r>
              <a:rPr lang="es-AR" sz="2800" b="0" dirty="0" err="1">
                <a:solidFill>
                  <a:srgbClr val="C9D1D9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nombreUsuario</a:t>
            </a:r>
            <a:r>
              <a:rPr lang="es-AR" sz="2800" b="0" dirty="0">
                <a:solidFill>
                  <a:srgbClr val="BBBEBF"/>
                </a:solidFill>
                <a:effectLst/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27543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24EF0-97DC-3E62-53B7-A8C5553EF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2DE80FF-F367-DDD1-6EED-FD9A4AC7D74E}"/>
              </a:ext>
            </a:extLst>
          </p:cNvPr>
          <p:cNvSpPr txBox="1"/>
          <p:nvPr/>
        </p:nvSpPr>
        <p:spPr>
          <a:xfrm>
            <a:off x="3788096" y="431321"/>
            <a:ext cx="10711808" cy="1053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Preguntas</a:t>
            </a:r>
            <a:r>
              <a:rPr lang="en-US" sz="6268" b="1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seguridad</a:t>
            </a:r>
            <a:endParaRPr lang="en-US" sz="6268" b="1" dirty="0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9B9B9B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2700000"/>
              </a:gra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2262C8E-6AAB-DF8D-DBC0-C803C748753B}"/>
              </a:ext>
            </a:extLst>
          </p:cNvPr>
          <p:cNvSpPr txBox="1"/>
          <p:nvPr/>
        </p:nvSpPr>
        <p:spPr>
          <a:xfrm>
            <a:off x="0" y="1790700"/>
            <a:ext cx="11811000" cy="79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Se responden en primer inicio de sesión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B879D3-C945-4494-798C-D7F89FF08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"/>
          <a:stretch>
            <a:fillRect/>
          </a:stretch>
        </p:blipFill>
        <p:spPr>
          <a:xfrm>
            <a:off x="3329857" y="2871471"/>
            <a:ext cx="11628287" cy="5624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62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42232-0241-7F86-5EAD-B7D89A174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52EB585-7440-C9E7-43CE-30E964877F05}"/>
              </a:ext>
            </a:extLst>
          </p:cNvPr>
          <p:cNvSpPr txBox="1"/>
          <p:nvPr/>
        </p:nvSpPr>
        <p:spPr>
          <a:xfrm>
            <a:off x="3788096" y="431321"/>
            <a:ext cx="10711808" cy="1053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Recuperar</a:t>
            </a:r>
            <a:r>
              <a:rPr lang="en-US" sz="6268" b="1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contraseña</a:t>
            </a:r>
            <a:endParaRPr lang="en-US" sz="6268" b="1" dirty="0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9B9B9B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2700000"/>
              </a:gra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E42EE87-7A1A-5CA1-58CC-D8410923DAD1}"/>
              </a:ext>
            </a:extLst>
          </p:cNvPr>
          <p:cNvSpPr txBox="1"/>
          <p:nvPr/>
        </p:nvSpPr>
        <p:spPr>
          <a:xfrm>
            <a:off x="0" y="1790700"/>
            <a:ext cx="15621000" cy="79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Se responden las preguntas antes de dejar cambiar</a:t>
            </a:r>
            <a:endParaRPr lang="es-AR" sz="4540" dirty="0"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4C2973-CA99-F262-1BA8-AC5B991E5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" r="691" b="1205"/>
          <a:stretch>
            <a:fillRect/>
          </a:stretch>
        </p:blipFill>
        <p:spPr>
          <a:xfrm>
            <a:off x="38100" y="2781300"/>
            <a:ext cx="10107299" cy="613489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C51ABDA-0D07-439D-2B5D-EFEEB390E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1" t="2439" r="3340" b="2452"/>
          <a:stretch>
            <a:fillRect/>
          </a:stretch>
        </p:blipFill>
        <p:spPr>
          <a:xfrm>
            <a:off x="10591800" y="3732691"/>
            <a:ext cx="7379064" cy="423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39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FCADD-208E-47FB-5A6D-C84BD6B9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9C7766C-AFB3-6B96-29B1-AD23E31E22AD}"/>
              </a:ext>
            </a:extLst>
          </p:cNvPr>
          <p:cNvSpPr txBox="1"/>
          <p:nvPr/>
        </p:nvSpPr>
        <p:spPr>
          <a:xfrm>
            <a:off x="3788096" y="431321"/>
            <a:ext cx="10711808" cy="1053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Políticas</a:t>
            </a:r>
            <a:r>
              <a:rPr lang="en-US" sz="6268" b="1" dirty="0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 de </a:t>
            </a: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seguridad</a:t>
            </a:r>
            <a:endParaRPr lang="en-US" sz="6268" b="1" dirty="0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9B9B9B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2700000"/>
              </a:gra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5AC0152-2E85-0E3A-FDE2-DBB0AB86B6C0}"/>
              </a:ext>
            </a:extLst>
          </p:cNvPr>
          <p:cNvSpPr txBox="1"/>
          <p:nvPr/>
        </p:nvSpPr>
        <p:spPr>
          <a:xfrm>
            <a:off x="1333500" y="1790700"/>
            <a:ext cx="15621000" cy="7316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Las contraseñas son concatenadas + encriptadas</a:t>
            </a:r>
          </a:p>
          <a:p>
            <a:pPr marL="685800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Cada vez que se inicie se solicitará un código que llega a mail</a:t>
            </a:r>
          </a:p>
          <a:p>
            <a:pPr marL="685800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Preguntas de seguridad</a:t>
            </a:r>
          </a:p>
          <a:p>
            <a:pPr marL="685800" indent="-6858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Después de 3 meses se debe cambiar contraseña</a:t>
            </a:r>
            <a:endParaRPr lang="es-AR" sz="4540" dirty="0">
              <a:latin typeface="Open Sans Bold" panose="020B0604020202020204" charset="0"/>
              <a:ea typeface="Open Sans Bold" panose="020B0604020202020204" charset="0"/>
              <a:cs typeface="Open Sans Bold" panose="020B0604020202020204" charset="0"/>
            </a:endParaRPr>
          </a:p>
          <a:p>
            <a:pPr marL="1143000" lvl="1" indent="-685800" algn="just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s-AR" sz="4540" dirty="0">
                <a:latin typeface="Open Sans Bold" panose="020B0604020202020204" charset="0"/>
                <a:ea typeface="Open Sans Bold" panose="020B0604020202020204" charset="0"/>
                <a:cs typeface="Open Sans Bold" panose="020B0604020202020204" charset="0"/>
              </a:rPr>
              <a:t>No puede ser igual a cualquiera que las anteriores</a:t>
            </a:r>
          </a:p>
        </p:txBody>
      </p:sp>
    </p:spTree>
    <p:extLst>
      <p:ext uri="{BB962C8B-B14F-4D97-AF65-F5344CB8AC3E}">
        <p14:creationId xmlns:p14="http://schemas.microsoft.com/office/powerpoint/2010/main" val="1126594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F97BF-FAE3-BEA9-43D9-6F3C13773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25EF447-6F94-F412-07F4-777A3FAD368A}"/>
              </a:ext>
            </a:extLst>
          </p:cNvPr>
          <p:cNvSpPr txBox="1"/>
          <p:nvPr/>
        </p:nvSpPr>
        <p:spPr>
          <a:xfrm>
            <a:off x="3788096" y="431321"/>
            <a:ext cx="10711808" cy="1053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775"/>
              </a:lnSpc>
              <a:spcBef>
                <a:spcPct val="0"/>
              </a:spcBef>
            </a:pPr>
            <a:r>
              <a:rPr lang="en-US" sz="6268" b="1" dirty="0" err="1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50000">
                      <a:srgbClr val="9B9B9B">
                        <a:alpha val="100000"/>
                      </a:srgbClr>
                    </a:gs>
                    <a:gs pos="100000">
                      <a:srgbClr val="9B9B9B">
                        <a:alpha val="100000"/>
                      </a:srgbClr>
                    </a:gs>
                  </a:gsLst>
                  <a:lin ang="27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Permisos</a:t>
            </a:r>
            <a:endParaRPr lang="en-US" sz="6268" b="1" dirty="0">
              <a:gradFill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9B9B9B">
                      <a:alpha val="100000"/>
                    </a:srgbClr>
                  </a:gs>
                  <a:gs pos="100000">
                    <a:srgbClr val="9B9B9B">
                      <a:alpha val="100000"/>
                    </a:srgbClr>
                  </a:gs>
                </a:gsLst>
                <a:lin ang="2700000"/>
              </a:gra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71237F-FEF9-92F4-3BD2-F2DA24921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1" r="200" b="2328"/>
          <a:stretch>
            <a:fillRect/>
          </a:stretch>
        </p:blipFill>
        <p:spPr>
          <a:xfrm>
            <a:off x="152341" y="1780724"/>
            <a:ext cx="9545382" cy="630645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1F9E6B0-424F-1041-6541-64F37FF72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9008" y="2628900"/>
            <a:ext cx="10287000" cy="696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043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32</TotalTime>
  <Words>220</Words>
  <Application>Microsoft Office PowerPoint</Application>
  <PresentationFormat>Personalizado</PresentationFormat>
  <Paragraphs>41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Consolas</vt:lpstr>
      <vt:lpstr>Century Gothic</vt:lpstr>
      <vt:lpstr>Courier New</vt:lpstr>
      <vt:lpstr>Open Sans Bold</vt:lpstr>
      <vt:lpstr>Arial</vt:lpstr>
      <vt:lpstr>Malla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de</dc:title>
  <dc:creator>Rocio Papa Alvarez</dc:creator>
  <cp:lastModifiedBy>Rocio Papa Alvarez</cp:lastModifiedBy>
  <cp:revision>2</cp:revision>
  <dcterms:created xsi:type="dcterms:W3CDTF">2006-08-16T00:00:00Z</dcterms:created>
  <dcterms:modified xsi:type="dcterms:W3CDTF">2026-08-07T21:53:01Z</dcterms:modified>
  <dc:identifier>DAHRo7U-77c</dc:identifier>
</cp:coreProperties>
</file>